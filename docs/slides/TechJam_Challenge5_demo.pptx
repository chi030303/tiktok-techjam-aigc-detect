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0:00–0:25. Hi, we are Team Jambuddy. After a photo is shared, it is JPEG-compressed, blurred, and cropped. The contest score is 0.50 times clean AUC plus 0.50 times the mean AUC under fourteen official transforms — not accuracy at 0.5. Our detector is CLIP-B, about 86 million parameters, well under the 2B cap.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0:25–1:10. Most of the training set is still SID_Set: about 140,000 images, 90% of train — 70k real photos and 70k FLUX fakes. We do not stack more FLUX. We replace an equal number of SID FLUX with a thin mix-in: WildFake original SD 3,931; SDXL 1,514; PixArt, SD 3.5, Flux.2, nano banana, and GPT-image at 1,500 each; ADM and DDPM at 1,000 each. Self-built from local checkpoints and ComfyUI; we will open-source the mix. No GAN: contest and EvalGEN are diffusion, flow, and autoregressive. Hunyuan is not used.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1:10–1:55. We unfreeze the last four CLIP-B vision blocks. That scores 0.990 on the official 400 screen. A larger backbone does not help: CLIP-L last-4 is 0.980, ResNet SID 0.779, DINOv2 about 0.79. Resize 336, RGB plus frequency, and unfreezing the first four all lose on the contest formula. If two checkpoints are allowed, we average logits of last-4 and a mixed-data head — fuse 0.993. One command: folder in, JSON out, pred = P(AIGC). Official val never enters training.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1:55–2:45. Left is the contest score. Official val is COCO reals plus DALL·E Advanced. Frozen SID on the full 13,843 is 0.966; last-4 on that full set is 0.989, same ranking as the 400 screen. Right is EvalGEN: Flux, GoT, Infinity, OmniGen, Nova — never trained. Nova is the hard family. Mixed data lifts Nova recall at 0.5 from 0.49 to 0.86, and Nova AUC to 0.988. Fuse keeps last-4’s DALL·E ranking and the mixed head’s Nova AUC.</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2:45–3:25. HTML gallery: FP versus FN, sorted by worst prediction. Full official val, frozen SID: 150 false positives and 1,865 false negatives. Many misses are non-photoreal DALL·E (anime / illustration), pred near 0.001. False positives are real COCO photos scored above 0.98. Fuse at 0.5 on the 400 screen is 1 FP / 44 FN — low false-accusation, still conservative. High AUC does not mean 0.5 is the right operating point.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3:25–4:00. Contest formula is half clean AUC and half the mean of fourteen transform keys: JPEG, blur, resize, noise, jitter, center crop. Fuse stays at or above 0.984 on every key. Weakest keys: JPEG-30 and resize ×0.25. Mixed data dips there; SID is flatter but lower. The repository is public. Install CLIP-B, load the checkpoint, run predict.py.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85800"/>
            <a:ext cx="11338560" cy="548640"/>
          </a:xfrm>
          <a:prstGeom prst="rect">
            <a:avLst/>
          </a:prstGeom>
          <a:noFill/>
        </p:spPr>
        <p:txBody>
          <a:bodyPr wrap="square">
            <a:spAutoFit/>
          </a:bodyPr>
          <a:lstStyle/>
          <a:p>
            <a:r>
              <a:rPr sz="2600" b="1">
                <a:solidFill>
                  <a:srgbClr val="0F172A"/>
                </a:solidFill>
                <a:latin typeface="Arial"/>
              </a:rPr>
              <a:t>Robust Detection of AI-Generated Images Under Real-World Transformations</a:t>
            </a:r>
          </a:p>
        </p:txBody>
      </p:sp>
      <p:sp>
        <p:nvSpPr>
          <p:cNvPr id="4" name="TextBox 3"/>
          <p:cNvSpPr txBox="1"/>
          <p:nvPr/>
        </p:nvSpPr>
        <p:spPr>
          <a:xfrm>
            <a:off x="411480" y="1755648"/>
            <a:ext cx="11338560" cy="365760"/>
          </a:xfrm>
          <a:prstGeom prst="rect">
            <a:avLst/>
          </a:prstGeom>
          <a:noFill/>
        </p:spPr>
        <p:txBody>
          <a:bodyPr wrap="square">
            <a:spAutoFit/>
          </a:bodyPr>
          <a:lstStyle/>
          <a:p>
            <a:r>
              <a:rPr sz="1800" b="0">
                <a:solidFill>
                  <a:srgbClr val="64748B"/>
                </a:solidFill>
                <a:latin typeface="Arial"/>
              </a:rPr>
              <a:t>TikTok TechJam 2026</a:t>
            </a:r>
          </a:p>
        </p:txBody>
      </p:sp>
      <p:sp>
        <p:nvSpPr>
          <p:cNvPr id="5" name="TextBox 4"/>
          <p:cNvSpPr txBox="1"/>
          <p:nvPr/>
        </p:nvSpPr>
        <p:spPr>
          <a:xfrm>
            <a:off x="411480" y="2459736"/>
            <a:ext cx="11338560" cy="365760"/>
          </a:xfrm>
          <a:prstGeom prst="rect">
            <a:avLst/>
          </a:prstGeom>
          <a:noFill/>
        </p:spPr>
        <p:txBody>
          <a:bodyPr wrap="none">
            <a:spAutoFit/>
          </a:bodyPr>
          <a:lstStyle/>
          <a:p>
            <a:r>
              <a:rPr sz="2000" b="1">
                <a:solidFill>
                  <a:srgbClr val="0F172A"/>
                </a:solidFill>
                <a:latin typeface="Arial"/>
              </a:rPr>
              <a:t>Team Jambuddy</a:t>
            </a:r>
          </a:p>
        </p:txBody>
      </p:sp>
      <p:sp>
        <p:nvSpPr>
          <p:cNvPr id="6" name="TextBox 5"/>
          <p:cNvSpPr txBox="1"/>
          <p:nvPr/>
        </p:nvSpPr>
        <p:spPr>
          <a:xfrm>
            <a:off x="457200" y="2880360"/>
            <a:ext cx="10972800" cy="3108960"/>
          </a:xfrm>
          <a:prstGeom prst="rect">
            <a:avLst/>
          </a:prstGeom>
          <a:noFill/>
        </p:spPr>
        <p:txBody>
          <a:bodyPr wrap="square">
            <a:spAutoFit/>
          </a:bodyPr>
          <a:lstStyle/>
          <a:p>
            <a:pPr>
              <a:spcAft>
                <a:spcPts val="800"/>
              </a:spcAft>
            </a:pPr>
            <a:r>
              <a:rPr sz="1800" b="0">
                <a:solidFill>
                  <a:srgbClr val="0F172A"/>
                </a:solidFill>
                <a:latin typeface="Arial"/>
              </a:rPr>
              <a:t>He Tianqi    tianqi008@e.ntu.edu.sg</a:t>
            </a:r>
          </a:p>
          <a:p>
            <a:pPr>
              <a:spcAft>
                <a:spcPts val="800"/>
              </a:spcAft>
            </a:pPr>
            <a:r>
              <a:rPr sz="1800" b="0">
                <a:solidFill>
                  <a:srgbClr val="0F172A"/>
                </a:solidFill>
                <a:latin typeface="Arial"/>
              </a:rPr>
              <a:t>Yu Shenli    yxy021104@gmail.com</a:t>
            </a:r>
          </a:p>
          <a:p>
            <a:pPr>
              <a:spcAft>
                <a:spcPts val="800"/>
              </a:spcAft>
            </a:pPr>
            <a:r>
              <a:rPr sz="1800" b="0">
                <a:solidFill>
                  <a:srgbClr val="0F172A"/>
                </a:solidFill>
                <a:latin typeface="Arial"/>
              </a:rPr>
              <a:t>Zheng Congyun    CONGYUN001@e.ntu.edu.sg</a:t>
            </a:r>
          </a:p>
          <a:p>
            <a:pPr>
              <a:spcAft>
                <a:spcPts val="800"/>
              </a:spcAft>
            </a:pPr>
            <a:r>
              <a:rPr sz="1800" b="0">
                <a:solidFill>
                  <a:srgbClr val="0F172A"/>
                </a:solidFill>
                <a:latin typeface="Arial"/>
              </a:rPr>
              <a:t>Wang Weijie    wangweijiejames@163.com</a:t>
            </a:r>
          </a:p>
          <a:p>
            <a:pPr>
              <a:spcAft>
                <a:spcPts val="800"/>
              </a:spcAft>
            </a:pPr>
            <a:r>
              <a:rPr sz="1800" b="0">
                <a:solidFill>
                  <a:srgbClr val="0F172A"/>
                </a:solidFill>
                <a:latin typeface="Arial"/>
              </a:rPr>
              <a:t>Tan Linyun    tanlinyun@126.com</a:t>
            </a:r>
          </a:p>
        </p:txBody>
      </p:sp>
      <p:sp>
        <p:nvSpPr>
          <p:cNvPr id="7" name="TextBox 6"/>
          <p:cNvSpPr txBox="1"/>
          <p:nvPr/>
        </p:nvSpPr>
        <p:spPr>
          <a:xfrm>
            <a:off x="10607040" y="6537960"/>
            <a:ext cx="1280160" cy="256032"/>
          </a:xfrm>
          <a:prstGeom prst="rect">
            <a:avLst/>
          </a:prstGeom>
          <a:noFill/>
        </p:spPr>
        <p:txBody>
          <a:bodyPr wrap="none">
            <a:spAutoFit/>
          </a:bodyPr>
          <a:lstStyle/>
          <a:p>
            <a:pPr algn="r"/>
            <a:r>
              <a:rPr sz="1100" b="0">
                <a:solidFill>
                  <a:srgbClr val="64748B"/>
                </a:solidFill>
                <a:latin typeface="Arial"/>
              </a:rPr>
              <a:t>1 / 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56032"/>
            <a:ext cx="11338560" cy="548640"/>
          </a:xfrm>
          <a:prstGeom prst="rect">
            <a:avLst/>
          </a:prstGeom>
          <a:noFill/>
        </p:spPr>
        <p:txBody>
          <a:bodyPr wrap="square">
            <a:spAutoFit/>
          </a:bodyPr>
          <a:lstStyle/>
          <a:p>
            <a:r>
              <a:rPr sz="2800" b="1">
                <a:solidFill>
                  <a:srgbClr val="0F172A"/>
                </a:solidFill>
                <a:latin typeface="Arial"/>
              </a:rPr>
              <a:t>Mixed data</a:t>
            </a:r>
          </a:p>
        </p:txBody>
      </p:sp>
      <p:sp>
        <p:nvSpPr>
          <p:cNvPr id="3" name="TextBox 2"/>
          <p:cNvSpPr txBox="1"/>
          <p:nvPr/>
        </p:nvSpPr>
        <p:spPr>
          <a:xfrm>
            <a:off x="411480" y="713232"/>
            <a:ext cx="11338560" cy="365760"/>
          </a:xfrm>
          <a:prstGeom prst="rect">
            <a:avLst/>
          </a:prstGeom>
          <a:noFill/>
        </p:spPr>
        <p:txBody>
          <a:bodyPr wrap="square">
            <a:spAutoFit/>
          </a:bodyPr>
          <a:lstStyle/>
          <a:p>
            <a:r>
              <a:rPr sz="1400" b="0">
                <a:solidFill>
                  <a:srgbClr val="64748B"/>
                </a:solidFill>
                <a:latin typeface="Arial"/>
              </a:rPr>
              <a:t>Main data is SID_Set (~140k, ~90% of train). Mix-in is ~15k other generators, replacing equal SID FLUX.</a:t>
            </a:r>
          </a:p>
        </p:txBody>
      </p:sp>
      <p:pic>
        <p:nvPicPr>
          <p:cNvPr id="4" name="Picture 3" descr="arch_table.png"/>
          <p:cNvPicPr>
            <a:picLocks noChangeAspect="1"/>
          </p:cNvPicPr>
          <p:nvPr/>
        </p:nvPicPr>
        <p:blipFill>
          <a:blip r:embed="rId2"/>
          <a:stretch>
            <a:fillRect/>
          </a:stretch>
        </p:blipFill>
        <p:spPr>
          <a:xfrm>
            <a:off x="365760" y="1024128"/>
            <a:ext cx="11430000" cy="3127248"/>
          </a:xfrm>
          <a:prstGeom prst="rect">
            <a:avLst/>
          </a:prstGeom>
        </p:spPr>
      </p:pic>
      <p:sp>
        <p:nvSpPr>
          <p:cNvPr id="5" name="TextBox 4"/>
          <p:cNvSpPr txBox="1"/>
          <p:nvPr/>
        </p:nvSpPr>
        <p:spPr>
          <a:xfrm>
            <a:off x="457200" y="4434840"/>
            <a:ext cx="11247120" cy="1737360"/>
          </a:xfrm>
          <a:prstGeom prst="rect">
            <a:avLst/>
          </a:prstGeom>
          <a:noFill/>
        </p:spPr>
        <p:txBody>
          <a:bodyPr wrap="square">
            <a:spAutoFit/>
          </a:bodyPr>
          <a:lstStyle/>
          <a:p>
            <a:pPr marL="256032" indent="-164592">
              <a:spcAft>
                <a:spcPts val="800"/>
              </a:spcAft>
              <a:buFont typeface="Arial"/>
              <a:buChar char="•"/>
            </a:pPr>
            <a:r>
              <a:rPr sz="1500" b="0">
                <a:solidFill>
                  <a:srgbClr val="0F172A"/>
                </a:solidFill>
                <a:latin typeface="Arial"/>
              </a:rPr>
              <a:t>SID remains the train set: ~70k real + ~70k FLUX. Mix-in does not stack extra data on top of SID.</a:t>
            </a:r>
          </a:p>
          <a:p>
            <a:pPr marL="256032" indent="-164592">
              <a:spcAft>
                <a:spcPts val="800"/>
              </a:spcAft>
              <a:buFont typeface="Arial"/>
              <a:buChar char="•"/>
            </a:pPr>
            <a:r>
              <a:rPr sz="1500" b="0">
                <a:solidFill>
                  <a:srgbClr val="0F172A"/>
                </a:solidFill>
                <a:latin typeface="Arial"/>
              </a:rPr>
              <a:t>Self-built fakes from locally deployed checkpoints and ComfyUI. We will open-source this mix.</a:t>
            </a:r>
          </a:p>
          <a:p>
            <a:pPr marL="256032" indent="-164592">
              <a:spcAft>
                <a:spcPts val="800"/>
              </a:spcAft>
              <a:buFont typeface="Arial"/>
              <a:buChar char="•"/>
            </a:pPr>
            <a:r>
              <a:rPr sz="1500" b="0">
                <a:solidFill>
                  <a:srgbClr val="0F172A"/>
                </a:solidFill>
                <a:latin typeface="Arial"/>
              </a:rPr>
              <a:t>No GAN in train: the contest and EvalGEN are diffusion / flow / AR. Hunyuan is not used.</a:t>
            </a:r>
          </a:p>
        </p:txBody>
      </p:sp>
      <p:sp>
        <p:nvSpPr>
          <p:cNvPr id="6" name="TextBox 5"/>
          <p:cNvSpPr txBox="1"/>
          <p:nvPr/>
        </p:nvSpPr>
        <p:spPr>
          <a:xfrm>
            <a:off x="10607040" y="6537960"/>
            <a:ext cx="1280160" cy="256032"/>
          </a:xfrm>
          <a:prstGeom prst="rect">
            <a:avLst/>
          </a:prstGeom>
          <a:noFill/>
        </p:spPr>
        <p:txBody>
          <a:bodyPr wrap="none">
            <a:spAutoFit/>
          </a:bodyPr>
          <a:lstStyle/>
          <a:p>
            <a:pPr algn="r"/>
            <a:r>
              <a:rPr sz="1100" b="0">
                <a:solidFill>
                  <a:srgbClr val="64748B"/>
                </a:solidFill>
                <a:latin typeface="Arial"/>
              </a:rPr>
              <a:t>2 / 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56032"/>
            <a:ext cx="11338560" cy="548640"/>
          </a:xfrm>
          <a:prstGeom prst="rect">
            <a:avLst/>
          </a:prstGeom>
          <a:noFill/>
        </p:spPr>
        <p:txBody>
          <a:bodyPr wrap="square">
            <a:spAutoFit/>
          </a:bodyPr>
          <a:lstStyle/>
          <a:p>
            <a:r>
              <a:rPr sz="2800" b="1">
                <a:solidFill>
                  <a:srgbClr val="0F172A"/>
                </a:solidFill>
                <a:latin typeface="Arial"/>
              </a:rPr>
              <a:t>Fuse architecture</a:t>
            </a:r>
          </a:p>
        </p:txBody>
      </p:sp>
      <p:pic>
        <p:nvPicPr>
          <p:cNvPr id="3" name="Picture 2" descr="fuse_arch.png"/>
          <p:cNvPicPr>
            <a:picLocks noChangeAspect="1"/>
          </p:cNvPicPr>
          <p:nvPr/>
        </p:nvPicPr>
        <p:blipFill>
          <a:blip r:embed="rId2"/>
          <a:stretch>
            <a:fillRect/>
          </a:stretch>
        </p:blipFill>
        <p:spPr>
          <a:xfrm>
            <a:off x="365760" y="960120"/>
            <a:ext cx="11430000" cy="3246120"/>
          </a:xfrm>
          <a:prstGeom prst="rect">
            <a:avLst/>
          </a:prstGeom>
        </p:spPr>
      </p:pic>
      <p:sp>
        <p:nvSpPr>
          <p:cNvPr id="4" name="TextBox 3"/>
          <p:cNvSpPr txBox="1"/>
          <p:nvPr/>
        </p:nvSpPr>
        <p:spPr>
          <a:xfrm>
            <a:off x="457200" y="4389120"/>
            <a:ext cx="11247120" cy="1645920"/>
          </a:xfrm>
          <a:prstGeom prst="rect">
            <a:avLst/>
          </a:prstGeom>
          <a:noFill/>
        </p:spPr>
        <p:txBody>
          <a:bodyPr wrap="square">
            <a:spAutoFit/>
          </a:bodyPr>
          <a:lstStyle/>
          <a:p>
            <a:pPr marL="256032" indent="-164592">
              <a:spcAft>
                <a:spcPts val="800"/>
              </a:spcAft>
              <a:buFont typeface="Arial"/>
              <a:buChar char="•"/>
            </a:pPr>
            <a:r>
              <a:rPr sz="1600" b="0">
                <a:solidFill>
                  <a:srgbClr val="0F172A"/>
                </a:solidFill>
                <a:latin typeface="Arial"/>
              </a:rPr>
              <a:t>CLIP-B last-4 (0.990) beats CLIP-L last-4 (0.980), ResNet SID (0.779), and DINOv2 (0.79).</a:t>
            </a:r>
          </a:p>
          <a:p>
            <a:pPr marL="256032" indent="-164592">
              <a:spcAft>
                <a:spcPts val="800"/>
              </a:spcAft>
              <a:buFont typeface="Arial"/>
              <a:buChar char="•"/>
            </a:pPr>
            <a:r>
              <a:rPr sz="1600" b="0">
                <a:solidFill>
                  <a:srgbClr val="0F172A"/>
                </a:solidFill>
                <a:latin typeface="Arial"/>
              </a:rPr>
              <a:t>resize 336, RGB+freq, and first-4 all lose on the contest formula. Mean-logit fuse = 0.993.</a:t>
            </a:r>
          </a:p>
        </p:txBody>
      </p:sp>
      <p:sp>
        <p:nvSpPr>
          <p:cNvPr id="5" name="TextBox 4"/>
          <p:cNvSpPr txBox="1"/>
          <p:nvPr/>
        </p:nvSpPr>
        <p:spPr>
          <a:xfrm>
            <a:off x="10607040" y="6537960"/>
            <a:ext cx="1280160" cy="256032"/>
          </a:xfrm>
          <a:prstGeom prst="rect">
            <a:avLst/>
          </a:prstGeom>
          <a:noFill/>
        </p:spPr>
        <p:txBody>
          <a:bodyPr wrap="none">
            <a:spAutoFit/>
          </a:bodyPr>
          <a:lstStyle/>
          <a:p>
            <a:pPr algn="r"/>
            <a:r>
              <a:rPr sz="1100" b="0">
                <a:solidFill>
                  <a:srgbClr val="64748B"/>
                </a:solidFill>
                <a:latin typeface="Arial"/>
              </a:rPr>
              <a:t>3 / 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56032"/>
            <a:ext cx="11338560" cy="548640"/>
          </a:xfrm>
          <a:prstGeom prst="rect">
            <a:avLst/>
          </a:prstGeom>
          <a:noFill/>
        </p:spPr>
        <p:txBody>
          <a:bodyPr wrap="square">
            <a:spAutoFit/>
          </a:bodyPr>
          <a:lstStyle/>
          <a:p>
            <a:r>
              <a:rPr sz="2800" b="1">
                <a:solidFill>
                  <a:srgbClr val="0F172A"/>
                </a:solidFill>
                <a:latin typeface="Arial"/>
              </a:rPr>
              <a:t>Evaluation</a:t>
            </a:r>
          </a:p>
        </p:txBody>
      </p:sp>
      <p:sp>
        <p:nvSpPr>
          <p:cNvPr id="3" name="TextBox 2"/>
          <p:cNvSpPr txBox="1"/>
          <p:nvPr/>
        </p:nvSpPr>
        <p:spPr>
          <a:xfrm>
            <a:off x="411480" y="713232"/>
            <a:ext cx="11338560" cy="365760"/>
          </a:xfrm>
          <a:prstGeom prst="rect">
            <a:avLst/>
          </a:prstGeom>
          <a:noFill/>
        </p:spPr>
        <p:txBody>
          <a:bodyPr wrap="square">
            <a:spAutoFit/>
          </a:bodyPr>
          <a:lstStyle/>
          <a:p>
            <a:r>
              <a:rPr sz="1400" b="0">
                <a:solidFill>
                  <a:srgbClr val="64748B"/>
                </a:solidFill>
                <a:latin typeface="Arial"/>
              </a:rPr>
              <a:t>Official val = contest score. EvalGEN is unseen generators (never trained), Nova is the hard family.</a:t>
            </a:r>
          </a:p>
        </p:txBody>
      </p:sp>
      <p:pic>
        <p:nvPicPr>
          <p:cNvPr id="4" name="Picture 3" descr="eval_full.png"/>
          <p:cNvPicPr>
            <a:picLocks noChangeAspect="1"/>
          </p:cNvPicPr>
          <p:nvPr/>
        </p:nvPicPr>
        <p:blipFill>
          <a:blip r:embed="rId2"/>
          <a:stretch>
            <a:fillRect/>
          </a:stretch>
        </p:blipFill>
        <p:spPr>
          <a:xfrm>
            <a:off x="365760" y="1024128"/>
            <a:ext cx="11430000" cy="3977639"/>
          </a:xfrm>
          <a:prstGeom prst="rect">
            <a:avLst/>
          </a:prstGeom>
        </p:spPr>
      </p:pic>
      <p:sp>
        <p:nvSpPr>
          <p:cNvPr id="5" name="TextBox 4"/>
          <p:cNvSpPr txBox="1"/>
          <p:nvPr/>
        </p:nvSpPr>
        <p:spPr>
          <a:xfrm>
            <a:off x="457200" y="5120640"/>
            <a:ext cx="11247120" cy="1371600"/>
          </a:xfrm>
          <a:prstGeom prst="rect">
            <a:avLst/>
          </a:prstGeom>
          <a:noFill/>
        </p:spPr>
        <p:txBody>
          <a:bodyPr wrap="square">
            <a:spAutoFit/>
          </a:bodyPr>
          <a:lstStyle/>
          <a:p>
            <a:pPr marL="256032" indent="-164592">
              <a:spcAft>
                <a:spcPts val="800"/>
              </a:spcAft>
              <a:buFont typeface="Arial"/>
              <a:buChar char="•"/>
            </a:pPr>
            <a:r>
              <a:rPr sz="1500" b="0">
                <a:solidFill>
                  <a:srgbClr val="0F172A"/>
                </a:solidFill>
                <a:latin typeface="Arial"/>
              </a:rPr>
              <a:t>Official val = COCO real + DALL·E Advanced. SID full 13,843 formula 0.966; last-4 full 0.989.</a:t>
            </a:r>
          </a:p>
          <a:p>
            <a:pPr marL="256032" indent="-164592">
              <a:spcAft>
                <a:spcPts val="800"/>
              </a:spcAft>
              <a:buFont typeface="Arial"/>
              <a:buChar char="•"/>
            </a:pPr>
            <a:r>
              <a:rPr sz="1500" b="0">
                <a:solidFill>
                  <a:srgbClr val="0F172A"/>
                </a:solidFill>
                <a:latin typeface="Arial"/>
              </a:rPr>
              <a:t>EvalGEN (Flux / GoT / Infinity / OmniGen / Nova) tests generator shift. Nova recall: mixed 0.86 vs last-4 0.49.</a:t>
            </a:r>
          </a:p>
        </p:txBody>
      </p:sp>
      <p:sp>
        <p:nvSpPr>
          <p:cNvPr id="6" name="TextBox 5"/>
          <p:cNvSpPr txBox="1"/>
          <p:nvPr/>
        </p:nvSpPr>
        <p:spPr>
          <a:xfrm>
            <a:off x="10607040" y="6537960"/>
            <a:ext cx="1280160" cy="256032"/>
          </a:xfrm>
          <a:prstGeom prst="rect">
            <a:avLst/>
          </a:prstGeom>
          <a:noFill/>
        </p:spPr>
        <p:txBody>
          <a:bodyPr wrap="none">
            <a:spAutoFit/>
          </a:bodyPr>
          <a:lstStyle/>
          <a:p>
            <a:pPr algn="r"/>
            <a:r>
              <a:rPr sz="1100" b="0">
                <a:solidFill>
                  <a:srgbClr val="64748B"/>
                </a:solidFill>
                <a:latin typeface="Arial"/>
              </a:rPr>
              <a:t>4 / 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56032"/>
            <a:ext cx="11338560" cy="548640"/>
          </a:xfrm>
          <a:prstGeom prst="rect">
            <a:avLst/>
          </a:prstGeom>
          <a:noFill/>
        </p:spPr>
        <p:txBody>
          <a:bodyPr wrap="square">
            <a:spAutoFit/>
          </a:bodyPr>
          <a:lstStyle/>
          <a:p>
            <a:r>
              <a:rPr sz="2800" b="1">
                <a:solidFill>
                  <a:srgbClr val="0F172A"/>
                </a:solidFill>
                <a:latin typeface="Arial"/>
              </a:rPr>
              <a:t>Bad-case gallery</a:t>
            </a:r>
          </a:p>
        </p:txBody>
      </p:sp>
      <p:sp>
        <p:nvSpPr>
          <p:cNvPr id="3" name="TextBox 2"/>
          <p:cNvSpPr txBox="1"/>
          <p:nvPr/>
        </p:nvSpPr>
        <p:spPr>
          <a:xfrm>
            <a:off x="411480" y="713232"/>
            <a:ext cx="11338560" cy="365760"/>
          </a:xfrm>
          <a:prstGeom prst="rect">
            <a:avLst/>
          </a:prstGeom>
          <a:noFill/>
        </p:spPr>
        <p:txBody>
          <a:bodyPr wrap="square">
            <a:spAutoFit/>
          </a:bodyPr>
          <a:lstStyle/>
          <a:p>
            <a:r>
              <a:rPr sz="1400" b="0">
                <a:solidFill>
                  <a:srgbClr val="64748B"/>
                </a:solidFill>
                <a:latin typeface="Arial"/>
              </a:rPr>
              <a:t>HTML gallery: FP / FN split, sort by worst pred, generator + path on each card. Open locally.</a:t>
            </a:r>
          </a:p>
        </p:txBody>
      </p:sp>
      <p:sp>
        <p:nvSpPr>
          <p:cNvPr id="4" name="TextBox 3"/>
          <p:cNvSpPr txBox="1"/>
          <p:nvPr/>
        </p:nvSpPr>
        <p:spPr>
          <a:xfrm>
            <a:off x="411480" y="1078992"/>
            <a:ext cx="5669280" cy="292608"/>
          </a:xfrm>
          <a:prstGeom prst="rect">
            <a:avLst/>
          </a:prstGeom>
          <a:noFill/>
        </p:spPr>
        <p:txBody>
          <a:bodyPr wrap="none">
            <a:spAutoFit/>
          </a:bodyPr>
          <a:lstStyle/>
          <a:p>
            <a:r>
              <a:rPr sz="1300" b="1">
                <a:solidFill>
                  <a:srgbClr val="0F172A"/>
                </a:solidFill>
                <a:latin typeface="Arial"/>
              </a:rPr>
              <a:t>FN Badcases</a:t>
            </a:r>
          </a:p>
        </p:txBody>
      </p:sp>
      <p:sp>
        <p:nvSpPr>
          <p:cNvPr id="5" name="TextBox 4"/>
          <p:cNvSpPr txBox="1"/>
          <p:nvPr/>
        </p:nvSpPr>
        <p:spPr>
          <a:xfrm>
            <a:off x="6263640" y="1078992"/>
            <a:ext cx="5669280" cy="292608"/>
          </a:xfrm>
          <a:prstGeom prst="rect">
            <a:avLst/>
          </a:prstGeom>
          <a:noFill/>
        </p:spPr>
        <p:txBody>
          <a:bodyPr wrap="none">
            <a:spAutoFit/>
          </a:bodyPr>
          <a:lstStyle/>
          <a:p>
            <a:r>
              <a:rPr sz="1300" b="1">
                <a:solidFill>
                  <a:srgbClr val="0F172A"/>
                </a:solidFill>
                <a:latin typeface="Arial"/>
              </a:rPr>
              <a:t>FP Badcases</a:t>
            </a:r>
          </a:p>
        </p:txBody>
      </p:sp>
      <p:pic>
        <p:nvPicPr>
          <p:cNvPr id="6" name="Picture 5" descr="fn_badcases.png"/>
          <p:cNvPicPr>
            <a:picLocks noChangeAspect="1"/>
          </p:cNvPicPr>
          <p:nvPr/>
        </p:nvPicPr>
        <p:blipFill>
          <a:blip r:embed="rId2"/>
          <a:stretch>
            <a:fillRect/>
          </a:stretch>
        </p:blipFill>
        <p:spPr>
          <a:xfrm>
            <a:off x="320040" y="1353312"/>
            <a:ext cx="5806440" cy="3598807"/>
          </a:xfrm>
          <a:prstGeom prst="rect">
            <a:avLst/>
          </a:prstGeom>
        </p:spPr>
      </p:pic>
      <p:pic>
        <p:nvPicPr>
          <p:cNvPr id="7" name="Picture 6" descr="fp_badcases.png"/>
          <p:cNvPicPr>
            <a:picLocks noChangeAspect="1"/>
          </p:cNvPicPr>
          <p:nvPr/>
        </p:nvPicPr>
        <p:blipFill>
          <a:blip r:embed="rId3"/>
          <a:stretch>
            <a:fillRect/>
          </a:stretch>
        </p:blipFill>
        <p:spPr>
          <a:xfrm>
            <a:off x="6172200" y="1353312"/>
            <a:ext cx="5669280" cy="3400684"/>
          </a:xfrm>
          <a:prstGeom prst="rect">
            <a:avLst/>
          </a:prstGeom>
        </p:spPr>
      </p:pic>
      <p:sp>
        <p:nvSpPr>
          <p:cNvPr id="8" name="TextBox 7"/>
          <p:cNvSpPr txBox="1"/>
          <p:nvPr/>
        </p:nvSpPr>
        <p:spPr>
          <a:xfrm>
            <a:off x="411480" y="4956048"/>
            <a:ext cx="11247120" cy="1280160"/>
          </a:xfrm>
          <a:prstGeom prst="rect">
            <a:avLst/>
          </a:prstGeom>
          <a:noFill/>
        </p:spPr>
        <p:txBody>
          <a:bodyPr wrap="square">
            <a:spAutoFit/>
          </a:bodyPr>
          <a:lstStyle/>
          <a:p>
            <a:pPr marL="256032" indent="-164592">
              <a:spcAft>
                <a:spcPts val="800"/>
              </a:spcAft>
              <a:buFont typeface="Arial"/>
              <a:buChar char="•"/>
            </a:pPr>
            <a:r>
              <a:rPr sz="1400" b="0">
                <a:solidFill>
                  <a:srgbClr val="0F172A"/>
                </a:solidFill>
                <a:latin typeface="Arial"/>
              </a:rPr>
              <a:t>Full official val gallery (SID CLIP-B): 150 FP / 1865 FN on 13,843.</a:t>
            </a:r>
          </a:p>
          <a:p>
            <a:pPr marL="256032" indent="-164592">
              <a:spcAft>
                <a:spcPts val="800"/>
              </a:spcAft>
              <a:buFont typeface="Arial"/>
              <a:buChar char="•"/>
            </a:pPr>
            <a:r>
              <a:rPr sz="1400" b="0">
                <a:solidFill>
                  <a:srgbClr val="0F172A"/>
                </a:solidFill>
                <a:latin typeface="Arial"/>
              </a:rPr>
              <a:t>FN: many non-photoreal DALL·E (anime / illustration), pred ≈ 0.001.  FP: real COCO photos, pred 0.98+.</a:t>
            </a:r>
          </a:p>
          <a:p>
            <a:pPr marL="256032" indent="-164592">
              <a:spcAft>
                <a:spcPts val="800"/>
              </a:spcAft>
              <a:buFont typeface="Arial"/>
              <a:buChar char="•"/>
            </a:pPr>
            <a:r>
              <a:rPr sz="1400" b="0">
                <a:solidFill>
                  <a:srgbClr val="0F172A"/>
                </a:solidFill>
                <a:latin typeface="Arial"/>
              </a:rPr>
              <a:t>Fuse at 0.5 on the 400 screen is 1 FP / 44 FN — low false-accusation, still conservative.</a:t>
            </a:r>
          </a:p>
        </p:txBody>
      </p:sp>
      <p:sp>
        <p:nvSpPr>
          <p:cNvPr id="9" name="TextBox 8"/>
          <p:cNvSpPr txBox="1"/>
          <p:nvPr/>
        </p:nvSpPr>
        <p:spPr>
          <a:xfrm>
            <a:off x="10607040" y="6537960"/>
            <a:ext cx="1280160" cy="256032"/>
          </a:xfrm>
          <a:prstGeom prst="rect">
            <a:avLst/>
          </a:prstGeom>
          <a:noFill/>
        </p:spPr>
        <p:txBody>
          <a:bodyPr wrap="none">
            <a:spAutoFit/>
          </a:bodyPr>
          <a:lstStyle/>
          <a:p>
            <a:pPr algn="r"/>
            <a:r>
              <a:rPr sz="1100" b="0">
                <a:solidFill>
                  <a:srgbClr val="64748B"/>
                </a:solidFill>
                <a:latin typeface="Arial"/>
              </a:rPr>
              <a:t>5 / 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56032"/>
            <a:ext cx="11338560" cy="548640"/>
          </a:xfrm>
          <a:prstGeom prst="rect">
            <a:avLst/>
          </a:prstGeom>
          <a:noFill/>
        </p:spPr>
        <p:txBody>
          <a:bodyPr wrap="square">
            <a:spAutoFit/>
          </a:bodyPr>
          <a:lstStyle/>
          <a:p>
            <a:r>
              <a:rPr sz="2800" b="1">
                <a:solidFill>
                  <a:srgbClr val="0F172A"/>
                </a:solidFill>
                <a:latin typeface="Arial"/>
              </a:rPr>
              <a:t>Robustness: 15 official conditions</a:t>
            </a:r>
          </a:p>
        </p:txBody>
      </p:sp>
      <p:sp>
        <p:nvSpPr>
          <p:cNvPr id="3" name="TextBox 2"/>
          <p:cNvSpPr txBox="1"/>
          <p:nvPr/>
        </p:nvSpPr>
        <p:spPr>
          <a:xfrm>
            <a:off x="411480" y="713232"/>
            <a:ext cx="11338560" cy="365760"/>
          </a:xfrm>
          <a:prstGeom prst="rect">
            <a:avLst/>
          </a:prstGeom>
          <a:noFill/>
        </p:spPr>
        <p:txBody>
          <a:bodyPr wrap="square">
            <a:spAutoFit/>
          </a:bodyPr>
          <a:lstStyle/>
          <a:p>
            <a:r>
              <a:rPr sz="1400" b="0">
                <a:solidFill>
                  <a:srgbClr val="64748B"/>
                </a:solidFill>
                <a:latin typeface="Arial"/>
              </a:rPr>
              <a:t>JPEG / blur / resize / noise / jitter / center-crop.  Weakest keys: JPEG-30 and resize ×0.25.</a:t>
            </a:r>
          </a:p>
        </p:txBody>
      </p:sp>
      <p:pic>
        <p:nvPicPr>
          <p:cNvPr id="4" name="Picture 3" descr="table_15cond.png"/>
          <p:cNvPicPr>
            <a:picLocks noChangeAspect="1"/>
          </p:cNvPicPr>
          <p:nvPr/>
        </p:nvPicPr>
        <p:blipFill>
          <a:blip r:embed="rId2"/>
          <a:stretch>
            <a:fillRect/>
          </a:stretch>
        </p:blipFill>
        <p:spPr>
          <a:xfrm>
            <a:off x="365760" y="1051560"/>
            <a:ext cx="11430000" cy="3063240"/>
          </a:xfrm>
          <a:prstGeom prst="rect">
            <a:avLst/>
          </a:prstGeom>
        </p:spPr>
      </p:pic>
      <p:sp>
        <p:nvSpPr>
          <p:cNvPr id="5" name="TextBox 4"/>
          <p:cNvSpPr txBox="1"/>
          <p:nvPr/>
        </p:nvSpPr>
        <p:spPr>
          <a:xfrm>
            <a:off x="457200" y="4343400"/>
            <a:ext cx="11247120" cy="1645920"/>
          </a:xfrm>
          <a:prstGeom prst="rect">
            <a:avLst/>
          </a:prstGeom>
          <a:noFill/>
        </p:spPr>
        <p:txBody>
          <a:bodyPr wrap="square">
            <a:spAutoFit/>
          </a:bodyPr>
          <a:lstStyle/>
          <a:p>
            <a:pPr marL="256032" indent="-164592">
              <a:spcAft>
                <a:spcPts val="800"/>
              </a:spcAft>
              <a:buFont typeface="Arial"/>
              <a:buChar char="•"/>
            </a:pPr>
            <a:r>
              <a:rPr sz="1600" b="0">
                <a:solidFill>
                  <a:srgbClr val="0F172A"/>
                </a:solidFill>
                <a:latin typeface="Arial"/>
              </a:rPr>
              <a:t>Contest score = 0.50×AUC_clean + 0.50× mean AUROC of the 14 transform keys.</a:t>
            </a:r>
          </a:p>
          <a:p>
            <a:pPr marL="256032" indent="-164592">
              <a:spcAft>
                <a:spcPts val="800"/>
              </a:spcAft>
              <a:buFont typeface="Arial"/>
              <a:buChar char="•"/>
            </a:pPr>
            <a:r>
              <a:rPr sz="1600" b="0">
                <a:solidFill>
                  <a:srgbClr val="0F172A"/>
                </a:solidFill>
                <a:latin typeface="Arial"/>
              </a:rPr>
              <a:t>Fuse stays ≥ 0.984 on every key. Mixed data dips on hard JPEG / tiny resize; SID is flatter but lower.</a:t>
            </a:r>
          </a:p>
        </p:txBody>
      </p:sp>
      <p:sp>
        <p:nvSpPr>
          <p:cNvPr id="6" name="TextBox 5"/>
          <p:cNvSpPr txBox="1"/>
          <p:nvPr/>
        </p:nvSpPr>
        <p:spPr>
          <a:xfrm>
            <a:off x="10607040" y="6537960"/>
            <a:ext cx="1280160" cy="256032"/>
          </a:xfrm>
          <a:prstGeom prst="rect">
            <a:avLst/>
          </a:prstGeom>
          <a:noFill/>
        </p:spPr>
        <p:txBody>
          <a:bodyPr wrap="none">
            <a:spAutoFit/>
          </a:bodyPr>
          <a:lstStyle/>
          <a:p>
            <a:pPr algn="r"/>
            <a:r>
              <a:rPr sz="1100" b="0">
                <a:solidFill>
                  <a:srgbClr val="64748B"/>
                </a:solidFill>
                <a:latin typeface="Arial"/>
              </a:rPr>
              <a:t>6 / 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