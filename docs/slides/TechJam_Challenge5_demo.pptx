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0:00–0:25. Hi, we are Team Jambuddy. After a photo is shared, it is JPEG-compressed, blurred, and cropped. The contest score is 0.50 times clean AUC plus 0.50 times the mean AUC under fourteen official transforms — not accuracy at 0.5. Our detector is CLIP-B, about 86 million parameters, well under the 2B cap.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0:25–1:10. Most of the training set is still SID_Set: about 140,000 images — 70k real photos and 70k FLUX fakes. The one-checkpoint detector trains on SID only. We also generated other families from local checkpoints and ComfyUI, and we will open-source that mix. If two checkpoints are allowed, we fuse last-4 with a mixed head trained on WildFake original SD, Flux.2, SD 3.5, ADM, and DDPM — replacing an equal number of SID FLUX, not stacking. We further generated PixArt, SDXL, GPT-image, and nano banana. Those extra T2I sets did not lift the contest score, so they are not in the submitted checkpoint. No GAN: contest and EvalGEN are diffusion, flow, and autoregressive.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1:10–1:55. We unfreeze the last four CLIP-B vision blocks. That scores 0.990 on the official 400 screen. A larger backbone does not help: CLIP-L last-4 is 0.980, ResNet SID 0.779, DINOv2 about 0.79. Resize 336, RGB plus frequency, and unfreezing the first four all lose on the contest formula. If two checkpoints are allowed, we average logits of last-4 and a mixed-data head — fuse 0.993. One command: folder in, JSON out, pred = P(AIGC). Official val never enters training.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1:55–2:45. Left is the contest score. Official val is COCO reals plus DALL·E Advanced. Frozen SID on the full 13,843 is 0.966; last-4 on that full set is 0.989, same ranking as the 400 screen. Right is EvalGEN: Flux, GoT, Infinity, OmniGen, Nova — never trained. Nova is the hard family. Mixed data lifts Nova recall at 0.5 from 0.49 to 0.86, and Nova AUC to 0.988. Fuse keeps last-4’s DALL·E ranking and the mixed head’s Nova AUC.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2:45–3:25. HTML gallery: false positives versus false negatives, sorted by worst prediction. At threshold 0.5, fuse on the 400 screen is one false positive and forty-four false negatives — we almost never accuse a real photo. Many misses are non-photoreal DALL·E: comics, anime, illustration, scored near 0.001. That is outside our social-photo target, so on a photoreal social feed we expect fewer misses at the same threshold. Some remaining misses are still photoreal DALL·E, so this is not a free lunch. High AUC does not mean 0.5 is the right operating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3:25–4:00. Contest formula is half clean AUC and half the mean of fourteen transform keys: JPEG, blur, resize, noise, jitter, center crop. Fuse stays at or above 0.984 on every key. Weakest keys: JPEG-30 and resize ×0.25. Mixed data dips there; SID is flatter but lower. The repository is public. Install CLIP-B, load the checkpoint, run predict.py.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85800"/>
            <a:ext cx="11338560" cy="548640"/>
          </a:xfrm>
          <a:prstGeom prst="rect">
            <a:avLst/>
          </a:prstGeom>
          <a:noFill/>
        </p:spPr>
        <p:txBody>
          <a:bodyPr wrap="square">
            <a:spAutoFit/>
          </a:bodyPr>
          <a:lstStyle/>
          <a:p>
            <a:r>
              <a:rPr sz="2600" b="1">
                <a:solidFill>
                  <a:srgbClr val="0F172A"/>
                </a:solidFill>
                <a:latin typeface="Arial"/>
              </a:rPr>
              <a:t>Robust Detection of AI-Generated Images Under Real-World Transformations</a:t>
            </a:r>
          </a:p>
        </p:txBody>
      </p:sp>
      <p:sp>
        <p:nvSpPr>
          <p:cNvPr id="4" name="TextBox 3"/>
          <p:cNvSpPr txBox="1"/>
          <p:nvPr/>
        </p:nvSpPr>
        <p:spPr>
          <a:xfrm>
            <a:off x="411480" y="1755648"/>
            <a:ext cx="11338560" cy="365760"/>
          </a:xfrm>
          <a:prstGeom prst="rect">
            <a:avLst/>
          </a:prstGeom>
          <a:noFill/>
        </p:spPr>
        <p:txBody>
          <a:bodyPr wrap="square">
            <a:spAutoFit/>
          </a:bodyPr>
          <a:lstStyle/>
          <a:p>
            <a:r>
              <a:rPr sz="1800" b="0">
                <a:solidFill>
                  <a:srgbClr val="64748B"/>
                </a:solidFill>
                <a:latin typeface="Arial"/>
              </a:rPr>
              <a:t>TikTok TechJam 2026</a:t>
            </a:r>
          </a:p>
        </p:txBody>
      </p:sp>
      <p:sp>
        <p:nvSpPr>
          <p:cNvPr id="5" name="TextBox 4"/>
          <p:cNvSpPr txBox="1"/>
          <p:nvPr/>
        </p:nvSpPr>
        <p:spPr>
          <a:xfrm>
            <a:off x="411480" y="2459736"/>
            <a:ext cx="11338560" cy="365760"/>
          </a:xfrm>
          <a:prstGeom prst="rect">
            <a:avLst/>
          </a:prstGeom>
          <a:noFill/>
        </p:spPr>
        <p:txBody>
          <a:bodyPr wrap="none">
            <a:spAutoFit/>
          </a:bodyPr>
          <a:lstStyle/>
          <a:p>
            <a:r>
              <a:rPr sz="2000" b="1">
                <a:solidFill>
                  <a:srgbClr val="0F172A"/>
                </a:solidFill>
                <a:latin typeface="Arial"/>
              </a:rPr>
              <a:t>Team Jambuddy</a:t>
            </a:r>
          </a:p>
        </p:txBody>
      </p:sp>
      <p:sp>
        <p:nvSpPr>
          <p:cNvPr id="6" name="TextBox 5"/>
          <p:cNvSpPr txBox="1"/>
          <p:nvPr/>
        </p:nvSpPr>
        <p:spPr>
          <a:xfrm>
            <a:off x="457200" y="2880360"/>
            <a:ext cx="10972800" cy="3108960"/>
          </a:xfrm>
          <a:prstGeom prst="rect">
            <a:avLst/>
          </a:prstGeom>
          <a:noFill/>
        </p:spPr>
        <p:txBody>
          <a:bodyPr wrap="square">
            <a:spAutoFit/>
          </a:bodyPr>
          <a:lstStyle/>
          <a:p>
            <a:pPr>
              <a:spcAft>
                <a:spcPts val="800"/>
              </a:spcAft>
            </a:pPr>
            <a:r>
              <a:rPr sz="1800" b="0">
                <a:solidFill>
                  <a:srgbClr val="0F172A"/>
                </a:solidFill>
                <a:latin typeface="Arial"/>
              </a:rPr>
              <a:t>He Tianqi    tianqi008@e.ntu.edu.sg</a:t>
            </a:r>
          </a:p>
          <a:p>
            <a:pPr>
              <a:spcAft>
                <a:spcPts val="800"/>
              </a:spcAft>
            </a:pPr>
            <a:r>
              <a:rPr sz="1800" b="0">
                <a:solidFill>
                  <a:srgbClr val="0F172A"/>
                </a:solidFill>
                <a:latin typeface="Arial"/>
              </a:rPr>
              <a:t>Yu Shenli    yxy021104@gmail.com</a:t>
            </a:r>
          </a:p>
          <a:p>
            <a:pPr>
              <a:spcAft>
                <a:spcPts val="800"/>
              </a:spcAft>
            </a:pPr>
            <a:r>
              <a:rPr sz="1800" b="0">
                <a:solidFill>
                  <a:srgbClr val="0F172A"/>
                </a:solidFill>
                <a:latin typeface="Arial"/>
              </a:rPr>
              <a:t>Zheng Congyun    CONGYUN001@e.ntu.edu.sg</a:t>
            </a:r>
          </a:p>
          <a:p>
            <a:pPr>
              <a:spcAft>
                <a:spcPts val="800"/>
              </a:spcAft>
            </a:pPr>
            <a:r>
              <a:rPr sz="1800" b="0">
                <a:solidFill>
                  <a:srgbClr val="0F172A"/>
                </a:solidFill>
                <a:latin typeface="Arial"/>
              </a:rPr>
              <a:t>Wang Weijie    wangweijiejames@163.com</a:t>
            </a:r>
          </a:p>
          <a:p>
            <a:pPr>
              <a:spcAft>
                <a:spcPts val="800"/>
              </a:spcAft>
            </a:pPr>
            <a:r>
              <a:rPr sz="1800" b="0">
                <a:solidFill>
                  <a:srgbClr val="0F172A"/>
                </a:solidFill>
                <a:latin typeface="Arial"/>
              </a:rPr>
              <a:t>Tan Linyun    tanlinyun@126.com</a:t>
            </a:r>
          </a:p>
        </p:txBody>
      </p:sp>
      <p:sp>
        <p:nvSpPr>
          <p:cNvPr id="7" name="TextBox 6"/>
          <p:cNvSpPr txBox="1"/>
          <p:nvPr/>
        </p:nvSpPr>
        <p:spPr>
          <a:xfrm>
            <a:off x="10607040" y="6537960"/>
            <a:ext cx="1280160" cy="256032"/>
          </a:xfrm>
          <a:prstGeom prst="rect">
            <a:avLst/>
          </a:prstGeom>
          <a:noFill/>
        </p:spPr>
        <p:txBody>
          <a:bodyPr wrap="none">
            <a:spAutoFit/>
          </a:bodyPr>
          <a:lstStyle/>
          <a:p>
            <a:pPr algn="r"/>
            <a:r>
              <a:rPr sz="1100" b="0">
                <a:solidFill>
                  <a:srgbClr val="64748B"/>
                </a:solidFill>
                <a:latin typeface="Arial"/>
              </a:rPr>
              <a:t>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48640"/>
          </a:xfrm>
          <a:prstGeom prst="rect">
            <a:avLst/>
          </a:prstGeom>
          <a:noFill/>
        </p:spPr>
        <p:txBody>
          <a:bodyPr wrap="square">
            <a:spAutoFit/>
          </a:bodyPr>
          <a:lstStyle/>
          <a:p>
            <a:r>
              <a:rPr sz="2800" b="1">
                <a:solidFill>
                  <a:srgbClr val="0F172A"/>
                </a:solidFill>
                <a:latin typeface="Arial"/>
              </a:rPr>
              <a:t>Mixed data</a:t>
            </a:r>
          </a:p>
        </p:txBody>
      </p:sp>
      <p:sp>
        <p:nvSpPr>
          <p:cNvPr id="3" name="TextBox 2"/>
          <p:cNvSpPr txBox="1"/>
          <p:nvPr/>
        </p:nvSpPr>
        <p:spPr>
          <a:xfrm>
            <a:off x="411480" y="713232"/>
            <a:ext cx="11338560" cy="365760"/>
          </a:xfrm>
          <a:prstGeom prst="rect">
            <a:avLst/>
          </a:prstGeom>
          <a:noFill/>
        </p:spPr>
        <p:txBody>
          <a:bodyPr wrap="square">
            <a:spAutoFit/>
          </a:bodyPr>
          <a:lstStyle/>
          <a:p>
            <a:r>
              <a:rPr sz="1400" b="0">
                <a:solidFill>
                  <a:srgbClr val="64748B"/>
                </a:solidFill>
                <a:latin typeface="Arial"/>
              </a:rPr>
              <a:t>last-4 trains on SID only. We generated the families below; only the architecture mix is in the fused head.</a:t>
            </a:r>
          </a:p>
        </p:txBody>
      </p:sp>
      <p:pic>
        <p:nvPicPr>
          <p:cNvPr id="4" name="Picture 3" descr="arch_table.png"/>
          <p:cNvPicPr>
            <a:picLocks noChangeAspect="1"/>
          </p:cNvPicPr>
          <p:nvPr/>
        </p:nvPicPr>
        <p:blipFill>
          <a:blip r:embed="rId2"/>
          <a:stretch>
            <a:fillRect/>
          </a:stretch>
        </p:blipFill>
        <p:spPr>
          <a:xfrm>
            <a:off x="365760" y="1024128"/>
            <a:ext cx="11430000" cy="3127248"/>
          </a:xfrm>
          <a:prstGeom prst="rect">
            <a:avLst/>
          </a:prstGeom>
        </p:spPr>
      </p:pic>
      <p:sp>
        <p:nvSpPr>
          <p:cNvPr id="5" name="TextBox 4"/>
          <p:cNvSpPr txBox="1"/>
          <p:nvPr/>
        </p:nvSpPr>
        <p:spPr>
          <a:xfrm>
            <a:off x="457200" y="4434840"/>
            <a:ext cx="11247120" cy="1737360"/>
          </a:xfrm>
          <a:prstGeom prst="rect">
            <a:avLst/>
          </a:prstGeom>
          <a:noFill/>
        </p:spPr>
        <p:txBody>
          <a:bodyPr wrap="square">
            <a:spAutoFit/>
          </a:bodyPr>
          <a:lstStyle/>
          <a:p>
            <a:pPr marL="256032" indent="-164592">
              <a:spcAft>
                <a:spcPts val="800"/>
              </a:spcAft>
              <a:buFont typeface="Arial"/>
              <a:buChar char="•"/>
            </a:pPr>
            <a:r>
              <a:rPr sz="1500" b="0">
                <a:solidFill>
                  <a:srgbClr val="0F172A"/>
                </a:solidFill>
                <a:latin typeface="Arial"/>
              </a:rPr>
              <a:t>1 ckpt last-4 = SID ~140k + online aug. Extra T2I (PixArt / GPT / SDXL / nano) was built, then dropped.</a:t>
            </a:r>
          </a:p>
          <a:p>
            <a:pPr marL="256032" indent="-164592">
              <a:spcAft>
                <a:spcPts val="800"/>
              </a:spcAft>
              <a:buFont typeface="Arial"/>
              <a:buChar char="•"/>
            </a:pPr>
            <a:r>
              <a:rPr sz="1500" b="0">
                <a:solidFill>
                  <a:srgbClr val="0F172A"/>
                </a:solidFill>
                <a:latin typeface="Arial"/>
              </a:rPr>
              <a:t>2 ckpts: fuse last-4 with a mixed head on WildFake SD + Flux.2 + SD3.5 + ADM/DDPM (replace equal SID FLUX).</a:t>
            </a:r>
          </a:p>
          <a:p>
            <a:pPr marL="256032" indent="-164592">
              <a:spcAft>
                <a:spcPts val="800"/>
              </a:spcAft>
              <a:buFont typeface="Arial"/>
              <a:buChar char="•"/>
            </a:pPr>
            <a:r>
              <a:rPr sz="1500" b="0">
                <a:solidFill>
                  <a:srgbClr val="0F172A"/>
                </a:solidFill>
                <a:latin typeface="Arial"/>
              </a:rPr>
              <a:t>Self-built from local checkpoints and ComfyUI; we will open-source the mix. No GAN / Hunyuan.</a:t>
            </a:r>
          </a:p>
        </p:txBody>
      </p:sp>
      <p:sp>
        <p:nvSpPr>
          <p:cNvPr id="6" name="TextBox 5"/>
          <p:cNvSpPr txBox="1"/>
          <p:nvPr/>
        </p:nvSpPr>
        <p:spPr>
          <a:xfrm>
            <a:off x="10607040" y="6537960"/>
            <a:ext cx="1280160" cy="256032"/>
          </a:xfrm>
          <a:prstGeom prst="rect">
            <a:avLst/>
          </a:prstGeom>
          <a:noFill/>
        </p:spPr>
        <p:txBody>
          <a:bodyPr wrap="none">
            <a:spAutoFit/>
          </a:bodyPr>
          <a:lstStyle/>
          <a:p>
            <a:pPr algn="r"/>
            <a:r>
              <a:rPr sz="1100" b="0">
                <a:solidFill>
                  <a:srgbClr val="64748B"/>
                </a:solidFill>
                <a:latin typeface="Arial"/>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48640"/>
          </a:xfrm>
          <a:prstGeom prst="rect">
            <a:avLst/>
          </a:prstGeom>
          <a:noFill/>
        </p:spPr>
        <p:txBody>
          <a:bodyPr wrap="square">
            <a:spAutoFit/>
          </a:bodyPr>
          <a:lstStyle/>
          <a:p>
            <a:r>
              <a:rPr sz="2800" b="1">
                <a:solidFill>
                  <a:srgbClr val="0F172A"/>
                </a:solidFill>
                <a:latin typeface="Arial"/>
              </a:rPr>
              <a:t>Fuse architecture</a:t>
            </a:r>
          </a:p>
        </p:txBody>
      </p:sp>
      <p:pic>
        <p:nvPicPr>
          <p:cNvPr id="3" name="Picture 2" descr="fuse_arch.png"/>
          <p:cNvPicPr>
            <a:picLocks noChangeAspect="1"/>
          </p:cNvPicPr>
          <p:nvPr/>
        </p:nvPicPr>
        <p:blipFill>
          <a:blip r:embed="rId2"/>
          <a:stretch>
            <a:fillRect/>
          </a:stretch>
        </p:blipFill>
        <p:spPr>
          <a:xfrm>
            <a:off x="365760" y="960120"/>
            <a:ext cx="11430000" cy="3246120"/>
          </a:xfrm>
          <a:prstGeom prst="rect">
            <a:avLst/>
          </a:prstGeom>
        </p:spPr>
      </p:pic>
      <p:sp>
        <p:nvSpPr>
          <p:cNvPr id="4" name="TextBox 3"/>
          <p:cNvSpPr txBox="1"/>
          <p:nvPr/>
        </p:nvSpPr>
        <p:spPr>
          <a:xfrm>
            <a:off x="457200" y="4389120"/>
            <a:ext cx="11247120" cy="1645920"/>
          </a:xfrm>
          <a:prstGeom prst="rect">
            <a:avLst/>
          </a:prstGeom>
          <a:noFill/>
        </p:spPr>
        <p:txBody>
          <a:bodyPr wrap="square">
            <a:spAutoFit/>
          </a:bodyPr>
          <a:lstStyle/>
          <a:p>
            <a:pPr marL="256032" indent="-164592">
              <a:spcAft>
                <a:spcPts val="800"/>
              </a:spcAft>
              <a:buFont typeface="Arial"/>
              <a:buChar char="•"/>
            </a:pPr>
            <a:r>
              <a:rPr sz="1600" b="0">
                <a:solidFill>
                  <a:srgbClr val="0F172A"/>
                </a:solidFill>
                <a:latin typeface="Arial"/>
              </a:rPr>
              <a:t>CLIP-B last-4 (0.990) beats CLIP-L last-4 (0.980), ResNet SID (0.779), and DINOv2 (0.79).</a:t>
            </a:r>
          </a:p>
          <a:p>
            <a:pPr marL="256032" indent="-164592">
              <a:spcAft>
                <a:spcPts val="800"/>
              </a:spcAft>
              <a:buFont typeface="Arial"/>
              <a:buChar char="•"/>
            </a:pPr>
            <a:r>
              <a:rPr sz="1600" b="0">
                <a:solidFill>
                  <a:srgbClr val="0F172A"/>
                </a:solidFill>
                <a:latin typeface="Arial"/>
              </a:rPr>
              <a:t>resize 336, RGB+freq, and first-4 all lose on the contest formula. Mean-logit fuse = 0.993.</a:t>
            </a:r>
          </a:p>
        </p:txBody>
      </p:sp>
      <p:sp>
        <p:nvSpPr>
          <p:cNvPr id="5" name="TextBox 4"/>
          <p:cNvSpPr txBox="1"/>
          <p:nvPr/>
        </p:nvSpPr>
        <p:spPr>
          <a:xfrm>
            <a:off x="10607040" y="6537960"/>
            <a:ext cx="1280160" cy="256032"/>
          </a:xfrm>
          <a:prstGeom prst="rect">
            <a:avLst/>
          </a:prstGeom>
          <a:noFill/>
        </p:spPr>
        <p:txBody>
          <a:bodyPr wrap="none">
            <a:spAutoFit/>
          </a:bodyPr>
          <a:lstStyle/>
          <a:p>
            <a:pPr algn="r"/>
            <a:r>
              <a:rPr sz="1100" b="0">
                <a:solidFill>
                  <a:srgbClr val="64748B"/>
                </a:solidFill>
                <a:latin typeface="Arial"/>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48640"/>
          </a:xfrm>
          <a:prstGeom prst="rect">
            <a:avLst/>
          </a:prstGeom>
          <a:noFill/>
        </p:spPr>
        <p:txBody>
          <a:bodyPr wrap="square">
            <a:spAutoFit/>
          </a:bodyPr>
          <a:lstStyle/>
          <a:p>
            <a:r>
              <a:rPr sz="2800" b="1">
                <a:solidFill>
                  <a:srgbClr val="0F172A"/>
                </a:solidFill>
                <a:latin typeface="Arial"/>
              </a:rPr>
              <a:t>Evaluation</a:t>
            </a:r>
          </a:p>
        </p:txBody>
      </p:sp>
      <p:sp>
        <p:nvSpPr>
          <p:cNvPr id="3" name="TextBox 2"/>
          <p:cNvSpPr txBox="1"/>
          <p:nvPr/>
        </p:nvSpPr>
        <p:spPr>
          <a:xfrm>
            <a:off x="411480" y="713232"/>
            <a:ext cx="11338560" cy="365760"/>
          </a:xfrm>
          <a:prstGeom prst="rect">
            <a:avLst/>
          </a:prstGeom>
          <a:noFill/>
        </p:spPr>
        <p:txBody>
          <a:bodyPr wrap="square">
            <a:spAutoFit/>
          </a:bodyPr>
          <a:lstStyle/>
          <a:p>
            <a:r>
              <a:rPr sz="1400" b="0">
                <a:solidFill>
                  <a:srgbClr val="64748B"/>
                </a:solidFill>
                <a:latin typeface="Arial"/>
              </a:rPr>
              <a:t>Official val = contest score. EvalGEN is unseen generators (never trained), Nova is the hard family.</a:t>
            </a:r>
          </a:p>
        </p:txBody>
      </p:sp>
      <p:pic>
        <p:nvPicPr>
          <p:cNvPr id="4" name="Picture 3" descr="eval_full.png"/>
          <p:cNvPicPr>
            <a:picLocks noChangeAspect="1"/>
          </p:cNvPicPr>
          <p:nvPr/>
        </p:nvPicPr>
        <p:blipFill>
          <a:blip r:embed="rId2"/>
          <a:stretch>
            <a:fillRect/>
          </a:stretch>
        </p:blipFill>
        <p:spPr>
          <a:xfrm>
            <a:off x="365760" y="1024128"/>
            <a:ext cx="11430000" cy="3977639"/>
          </a:xfrm>
          <a:prstGeom prst="rect">
            <a:avLst/>
          </a:prstGeom>
        </p:spPr>
      </p:pic>
      <p:sp>
        <p:nvSpPr>
          <p:cNvPr id="5" name="TextBox 4"/>
          <p:cNvSpPr txBox="1"/>
          <p:nvPr/>
        </p:nvSpPr>
        <p:spPr>
          <a:xfrm>
            <a:off x="457200" y="5120640"/>
            <a:ext cx="11247120" cy="1371600"/>
          </a:xfrm>
          <a:prstGeom prst="rect">
            <a:avLst/>
          </a:prstGeom>
          <a:noFill/>
        </p:spPr>
        <p:txBody>
          <a:bodyPr wrap="square">
            <a:spAutoFit/>
          </a:bodyPr>
          <a:lstStyle/>
          <a:p>
            <a:pPr marL="256032" indent="-164592">
              <a:spcAft>
                <a:spcPts val="800"/>
              </a:spcAft>
              <a:buFont typeface="Arial"/>
              <a:buChar char="•"/>
            </a:pPr>
            <a:r>
              <a:rPr sz="1500" b="0">
                <a:solidFill>
                  <a:srgbClr val="0F172A"/>
                </a:solidFill>
                <a:latin typeface="Arial"/>
              </a:rPr>
              <a:t>Official val = COCO real + DALL·E Advanced. SID full 13,843 formula 0.966; last-4 full 0.989.</a:t>
            </a:r>
          </a:p>
          <a:p>
            <a:pPr marL="256032" indent="-164592">
              <a:spcAft>
                <a:spcPts val="800"/>
              </a:spcAft>
              <a:buFont typeface="Arial"/>
              <a:buChar char="•"/>
            </a:pPr>
            <a:r>
              <a:rPr sz="1500" b="0">
                <a:solidFill>
                  <a:srgbClr val="0F172A"/>
                </a:solidFill>
                <a:latin typeface="Arial"/>
              </a:rPr>
              <a:t>EvalGEN (Flux / GoT / Infinity / OmniGen / Nova) tests generator shift. Nova recall: mixed 0.86 vs last-4 0.49.</a:t>
            </a:r>
          </a:p>
        </p:txBody>
      </p:sp>
      <p:sp>
        <p:nvSpPr>
          <p:cNvPr id="6" name="TextBox 5"/>
          <p:cNvSpPr txBox="1"/>
          <p:nvPr/>
        </p:nvSpPr>
        <p:spPr>
          <a:xfrm>
            <a:off x="10607040" y="6537960"/>
            <a:ext cx="1280160" cy="256032"/>
          </a:xfrm>
          <a:prstGeom prst="rect">
            <a:avLst/>
          </a:prstGeom>
          <a:noFill/>
        </p:spPr>
        <p:txBody>
          <a:bodyPr wrap="none">
            <a:spAutoFit/>
          </a:bodyPr>
          <a:lstStyle/>
          <a:p>
            <a:pPr algn="r"/>
            <a:r>
              <a:rPr sz="1100" b="0">
                <a:solidFill>
                  <a:srgbClr val="64748B"/>
                </a:solidFill>
                <a:latin typeface="Arial"/>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48640"/>
          </a:xfrm>
          <a:prstGeom prst="rect">
            <a:avLst/>
          </a:prstGeom>
          <a:noFill/>
        </p:spPr>
        <p:txBody>
          <a:bodyPr wrap="square">
            <a:spAutoFit/>
          </a:bodyPr>
          <a:lstStyle/>
          <a:p>
            <a:r>
              <a:rPr sz="2800" b="1">
                <a:solidFill>
                  <a:srgbClr val="0F172A"/>
                </a:solidFill>
                <a:latin typeface="Arial"/>
              </a:rPr>
              <a:t>Bad-case gallery</a:t>
            </a:r>
          </a:p>
        </p:txBody>
      </p:sp>
      <p:sp>
        <p:nvSpPr>
          <p:cNvPr id="3" name="TextBox 2"/>
          <p:cNvSpPr txBox="1"/>
          <p:nvPr/>
        </p:nvSpPr>
        <p:spPr>
          <a:xfrm>
            <a:off x="411480" y="713232"/>
            <a:ext cx="11338560" cy="365760"/>
          </a:xfrm>
          <a:prstGeom prst="rect">
            <a:avLst/>
          </a:prstGeom>
          <a:noFill/>
        </p:spPr>
        <p:txBody>
          <a:bodyPr wrap="square">
            <a:spAutoFit/>
          </a:bodyPr>
          <a:lstStyle/>
          <a:p>
            <a:r>
              <a:rPr sz="1400" b="0">
                <a:solidFill>
                  <a:srgbClr val="64748B"/>
                </a:solidFill>
                <a:latin typeface="Arial"/>
              </a:rPr>
              <a:t>HTML gallery: FP / FN split, sort by worst pred, generator + path on each card. Open locally.</a:t>
            </a:r>
          </a:p>
        </p:txBody>
      </p:sp>
      <p:sp>
        <p:nvSpPr>
          <p:cNvPr id="4" name="TextBox 3"/>
          <p:cNvSpPr txBox="1"/>
          <p:nvPr/>
        </p:nvSpPr>
        <p:spPr>
          <a:xfrm>
            <a:off x="411480" y="1078992"/>
            <a:ext cx="5669280" cy="292608"/>
          </a:xfrm>
          <a:prstGeom prst="rect">
            <a:avLst/>
          </a:prstGeom>
          <a:noFill/>
        </p:spPr>
        <p:txBody>
          <a:bodyPr wrap="none">
            <a:spAutoFit/>
          </a:bodyPr>
          <a:lstStyle/>
          <a:p>
            <a:r>
              <a:rPr sz="1300" b="1">
                <a:solidFill>
                  <a:srgbClr val="0F172A"/>
                </a:solidFill>
                <a:latin typeface="Arial"/>
              </a:rPr>
              <a:t>FN Badcases</a:t>
            </a:r>
          </a:p>
        </p:txBody>
      </p:sp>
      <p:sp>
        <p:nvSpPr>
          <p:cNvPr id="5" name="TextBox 4"/>
          <p:cNvSpPr txBox="1"/>
          <p:nvPr/>
        </p:nvSpPr>
        <p:spPr>
          <a:xfrm>
            <a:off x="6263640" y="1078992"/>
            <a:ext cx="5669280" cy="292608"/>
          </a:xfrm>
          <a:prstGeom prst="rect">
            <a:avLst/>
          </a:prstGeom>
          <a:noFill/>
        </p:spPr>
        <p:txBody>
          <a:bodyPr wrap="none">
            <a:spAutoFit/>
          </a:bodyPr>
          <a:lstStyle/>
          <a:p>
            <a:r>
              <a:rPr sz="1300" b="1">
                <a:solidFill>
                  <a:srgbClr val="0F172A"/>
                </a:solidFill>
                <a:latin typeface="Arial"/>
              </a:rPr>
              <a:t>FP Badcases</a:t>
            </a:r>
          </a:p>
        </p:txBody>
      </p:sp>
      <p:pic>
        <p:nvPicPr>
          <p:cNvPr id="6" name="Picture 5" descr="fn_badcases.png"/>
          <p:cNvPicPr>
            <a:picLocks noChangeAspect="1"/>
          </p:cNvPicPr>
          <p:nvPr/>
        </p:nvPicPr>
        <p:blipFill>
          <a:blip r:embed="rId2"/>
          <a:stretch>
            <a:fillRect/>
          </a:stretch>
        </p:blipFill>
        <p:spPr>
          <a:xfrm>
            <a:off x="320040" y="1353312"/>
            <a:ext cx="5806440" cy="3598807"/>
          </a:xfrm>
          <a:prstGeom prst="rect">
            <a:avLst/>
          </a:prstGeom>
        </p:spPr>
      </p:pic>
      <p:pic>
        <p:nvPicPr>
          <p:cNvPr id="7" name="Picture 6" descr="fp_badcases.png"/>
          <p:cNvPicPr>
            <a:picLocks noChangeAspect="1"/>
          </p:cNvPicPr>
          <p:nvPr/>
        </p:nvPicPr>
        <p:blipFill>
          <a:blip r:embed="rId3"/>
          <a:stretch>
            <a:fillRect/>
          </a:stretch>
        </p:blipFill>
        <p:spPr>
          <a:xfrm>
            <a:off x="6172200" y="1353312"/>
            <a:ext cx="5669280" cy="3400684"/>
          </a:xfrm>
          <a:prstGeom prst="rect">
            <a:avLst/>
          </a:prstGeom>
        </p:spPr>
      </p:pic>
      <p:sp>
        <p:nvSpPr>
          <p:cNvPr id="8" name="TextBox 7"/>
          <p:cNvSpPr txBox="1"/>
          <p:nvPr/>
        </p:nvSpPr>
        <p:spPr>
          <a:xfrm>
            <a:off x="411480" y="4956048"/>
            <a:ext cx="11247120" cy="1280160"/>
          </a:xfrm>
          <a:prstGeom prst="rect">
            <a:avLst/>
          </a:prstGeom>
          <a:noFill/>
        </p:spPr>
        <p:txBody>
          <a:bodyPr wrap="square">
            <a:spAutoFit/>
          </a:bodyPr>
          <a:lstStyle/>
          <a:p>
            <a:pPr marL="256032" indent="-164592">
              <a:spcAft>
                <a:spcPts val="800"/>
              </a:spcAft>
              <a:buFont typeface="Arial"/>
              <a:buChar char="•"/>
            </a:pPr>
            <a:r>
              <a:rPr sz="1400" b="0">
                <a:solidFill>
                  <a:srgbClr val="0F172A"/>
                </a:solidFill>
                <a:latin typeface="Arial"/>
              </a:rPr>
              <a:t>Fuse @0.5 on 400: 1 FP / 44 FN — almost never accuses a real photo.</a:t>
            </a:r>
          </a:p>
          <a:p>
            <a:pPr marL="256032" indent="-164592">
              <a:spcAft>
                <a:spcPts val="800"/>
              </a:spcAft>
              <a:buFont typeface="Arial"/>
              <a:buChar char="•"/>
            </a:pPr>
            <a:r>
              <a:rPr sz="1400" b="0">
                <a:solidFill>
                  <a:srgbClr val="0F172A"/>
                </a:solidFill>
                <a:latin typeface="Arial"/>
              </a:rPr>
              <a:t>FN cluster: comics / anime / illustration DALL·E (pred ≈ 0.001). Target is social photos, not comics.</a:t>
            </a:r>
          </a:p>
          <a:p>
            <a:pPr marL="256032" indent="-164592">
              <a:spcAft>
                <a:spcPts val="800"/>
              </a:spcAft>
              <a:buFont typeface="Arial"/>
              <a:buChar char="•"/>
            </a:pPr>
            <a:r>
              <a:rPr sz="1400" b="0">
                <a:solidFill>
                  <a:srgbClr val="0F172A"/>
                </a:solidFill>
                <a:latin typeface="Arial"/>
              </a:rPr>
              <a:t>Photoreal social AIGC should miss less at the same threshold. Residual: some photoreal DALL·E still score very low.</a:t>
            </a:r>
          </a:p>
        </p:txBody>
      </p:sp>
      <p:sp>
        <p:nvSpPr>
          <p:cNvPr id="9" name="TextBox 8"/>
          <p:cNvSpPr txBox="1"/>
          <p:nvPr/>
        </p:nvSpPr>
        <p:spPr>
          <a:xfrm>
            <a:off x="10607040" y="6537960"/>
            <a:ext cx="1280160" cy="256032"/>
          </a:xfrm>
          <a:prstGeom prst="rect">
            <a:avLst/>
          </a:prstGeom>
          <a:noFill/>
        </p:spPr>
        <p:txBody>
          <a:bodyPr wrap="none">
            <a:spAutoFit/>
          </a:bodyPr>
          <a:lstStyle/>
          <a:p>
            <a:pPr algn="r"/>
            <a:r>
              <a:rPr sz="1100" b="0">
                <a:solidFill>
                  <a:srgbClr val="64748B"/>
                </a:solidFill>
                <a:latin typeface="Arial"/>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56032"/>
            <a:ext cx="11338560" cy="548640"/>
          </a:xfrm>
          <a:prstGeom prst="rect">
            <a:avLst/>
          </a:prstGeom>
          <a:noFill/>
        </p:spPr>
        <p:txBody>
          <a:bodyPr wrap="square">
            <a:spAutoFit/>
          </a:bodyPr>
          <a:lstStyle/>
          <a:p>
            <a:r>
              <a:rPr sz="2800" b="1">
                <a:solidFill>
                  <a:srgbClr val="0F172A"/>
                </a:solidFill>
                <a:latin typeface="Arial"/>
              </a:rPr>
              <a:t>Robustness: 15 official conditions</a:t>
            </a:r>
          </a:p>
        </p:txBody>
      </p:sp>
      <p:sp>
        <p:nvSpPr>
          <p:cNvPr id="3" name="TextBox 2"/>
          <p:cNvSpPr txBox="1"/>
          <p:nvPr/>
        </p:nvSpPr>
        <p:spPr>
          <a:xfrm>
            <a:off x="411480" y="713232"/>
            <a:ext cx="11338560" cy="365760"/>
          </a:xfrm>
          <a:prstGeom prst="rect">
            <a:avLst/>
          </a:prstGeom>
          <a:noFill/>
        </p:spPr>
        <p:txBody>
          <a:bodyPr wrap="square">
            <a:spAutoFit/>
          </a:bodyPr>
          <a:lstStyle/>
          <a:p>
            <a:r>
              <a:rPr sz="1400" b="0">
                <a:solidFill>
                  <a:srgbClr val="64748B"/>
                </a:solidFill>
                <a:latin typeface="Arial"/>
              </a:rPr>
              <a:t>JPEG / blur / resize / noise / jitter / center-crop.  Weakest keys: JPEG-30 and resize ×0.25.</a:t>
            </a:r>
          </a:p>
        </p:txBody>
      </p:sp>
      <p:pic>
        <p:nvPicPr>
          <p:cNvPr id="4" name="Picture 3" descr="table_15cond.png"/>
          <p:cNvPicPr>
            <a:picLocks noChangeAspect="1"/>
          </p:cNvPicPr>
          <p:nvPr/>
        </p:nvPicPr>
        <p:blipFill>
          <a:blip r:embed="rId2"/>
          <a:stretch>
            <a:fillRect/>
          </a:stretch>
        </p:blipFill>
        <p:spPr>
          <a:xfrm>
            <a:off x="365760" y="1051560"/>
            <a:ext cx="11430000" cy="3063240"/>
          </a:xfrm>
          <a:prstGeom prst="rect">
            <a:avLst/>
          </a:prstGeom>
        </p:spPr>
      </p:pic>
      <p:sp>
        <p:nvSpPr>
          <p:cNvPr id="5" name="TextBox 4"/>
          <p:cNvSpPr txBox="1"/>
          <p:nvPr/>
        </p:nvSpPr>
        <p:spPr>
          <a:xfrm>
            <a:off x="457200" y="4343400"/>
            <a:ext cx="11247120" cy="1645920"/>
          </a:xfrm>
          <a:prstGeom prst="rect">
            <a:avLst/>
          </a:prstGeom>
          <a:noFill/>
        </p:spPr>
        <p:txBody>
          <a:bodyPr wrap="square">
            <a:spAutoFit/>
          </a:bodyPr>
          <a:lstStyle/>
          <a:p>
            <a:pPr marL="256032" indent="-164592">
              <a:spcAft>
                <a:spcPts val="800"/>
              </a:spcAft>
              <a:buFont typeface="Arial"/>
              <a:buChar char="•"/>
            </a:pPr>
            <a:r>
              <a:rPr sz="1600" b="0">
                <a:solidFill>
                  <a:srgbClr val="0F172A"/>
                </a:solidFill>
                <a:latin typeface="Arial"/>
              </a:rPr>
              <a:t>Contest score = 0.50×AUC_clean + 0.50× mean AUROC of the 14 transform keys.</a:t>
            </a:r>
          </a:p>
          <a:p>
            <a:pPr marL="256032" indent="-164592">
              <a:spcAft>
                <a:spcPts val="800"/>
              </a:spcAft>
              <a:buFont typeface="Arial"/>
              <a:buChar char="•"/>
            </a:pPr>
            <a:r>
              <a:rPr sz="1600" b="0">
                <a:solidFill>
                  <a:srgbClr val="0F172A"/>
                </a:solidFill>
                <a:latin typeface="Arial"/>
              </a:rPr>
              <a:t>Fuse stays ≥ 0.984 on every key. Mixed data dips on hard JPEG / tiny resize; SID is flatter but lower.</a:t>
            </a:r>
          </a:p>
        </p:txBody>
      </p:sp>
      <p:sp>
        <p:nvSpPr>
          <p:cNvPr id="6" name="TextBox 5"/>
          <p:cNvSpPr txBox="1"/>
          <p:nvPr/>
        </p:nvSpPr>
        <p:spPr>
          <a:xfrm>
            <a:off x="10607040" y="6537960"/>
            <a:ext cx="1280160" cy="256032"/>
          </a:xfrm>
          <a:prstGeom prst="rect">
            <a:avLst/>
          </a:prstGeom>
          <a:noFill/>
        </p:spPr>
        <p:txBody>
          <a:bodyPr wrap="none">
            <a:spAutoFit/>
          </a:bodyPr>
          <a:lstStyle/>
          <a:p>
            <a:pPr algn="r"/>
            <a:r>
              <a:rPr sz="1100" b="0">
                <a:solidFill>
                  <a:srgbClr val="64748B"/>
                </a:solidFill>
                <a:latin typeface="Arial"/>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